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7"/>
    <p:sldId id="263" r:id="rId4"/>
    <p:sldId id="259" r:id="rId5"/>
    <p:sldId id="260" r:id="rId6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7EB0E-67B8-64D9-A106-8CC650CC3F34}" v="237" dt="2026-08-27T00:04:55.940"/>
    <p1510:client id="{3CD143EA-3849-D781-97C3-95A2080B1C1D}" v="226" dt="2026-08-27T11:20:0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B8D54-11AD-4967-A6AB-809213A49592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02131-0959-4669-B9B0-ADBBBD2FC2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8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Abertura: apresentar o grupo e o tema. O problema e' garantir atomicidade em uma troca que atravessa duas blockchains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Enfatizar: e' o problema classico de commit atomico, mas sem coordenador confiavel e com participantes potencialmente maliciosos.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2591-687D-14BF-AAE0-0B4DDBBC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BB78D-6BE2-D6BE-6BA4-1C312333C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020B4-7792-CEAF-E849-5ACA78F8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dois caminhos resolvem a mesma propriedade com premissas diferentes. O trabalho compara sistematicamente.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D1B18-5294-A343-8C47-9CECEC4F5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43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dois caminhos resolvem a mesma propriedade com premissas diferentes. O trabalho compara sistematicamente.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Este e' o ponto alto: a demonstracao pratica da propriedade de atomicidade sob falha injetada.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Justificar por que o tema importa: interoperabilidade, casos multicadeia, e o fato de a solucao classica de banco de dados nao se aplicar diretamente.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Tres frentes mapeadas no cronograma real: fundamentos ate 11.09, seminario na janela 18.09-02.10, implementacao em outubro e experimento na janela 30.10-13.11.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Referencias de qualidade: PODC, VLDB Journal, PVLDB e ACM 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016" y="369674"/>
            <a:ext cx="6501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Computacionais para Sistemas Distribuidos  ·  PPGCC/PUCRS  ·  2026/2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914983" y="1259424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Transações</a:t>
            </a: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4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atômicas</a:t>
            </a: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entre </a:t>
            </a:r>
            <a:r>
              <a:rPr lang="en-US" sz="42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múltiplas</a:t>
            </a: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blockchains</a:t>
            </a:r>
            <a:endParaRPr lang="en-US" sz="4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93901" y="277218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err="1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Estudo</a:t>
            </a:r>
            <a:r>
              <a:rPr lang="en-US" sz="1700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comparativo</a:t>
            </a:r>
            <a:r>
              <a:rPr lang="en-US" sz="1700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 entre HTLC e 2PC, com </a:t>
            </a:r>
            <a:r>
              <a:rPr lang="en-US" sz="1700" err="1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experimento</a:t>
            </a:r>
            <a:r>
              <a:rPr lang="en-US" sz="1700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err="1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700">
                <a:solidFill>
                  <a:srgbClr val="C6C9DB"/>
                </a:solidFill>
                <a:latin typeface="Calibri"/>
                <a:ea typeface="Calibri"/>
                <a:cs typeface="Calibri"/>
              </a:rPr>
              <a:t> Hyperledger Fabric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13344" y="3519607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2D3561"/>
          </a:solidFill>
          <a:ln w="15875">
            <a:solidFill>
              <a:srgbClr val="3E47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13344" y="3519607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13544" y="3894511"/>
            <a:ext cx="36576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5379304" y="3519607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2D3561"/>
          </a:solidFill>
          <a:ln w="15875">
            <a:solidFill>
              <a:srgbClr val="F0A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79304" y="3519607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979504" y="3894511"/>
            <a:ext cx="36576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7345264" y="3519607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2D3561"/>
          </a:solidFill>
          <a:ln w="15875">
            <a:solidFill>
              <a:srgbClr val="3E47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45264" y="3519607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94360" y="5440680"/>
            <a:ext cx="2011680" cy="22860"/>
          </a:xfrm>
          <a:prstGeom prst="rect">
            <a:avLst/>
          </a:prstGeom>
          <a:solidFill>
            <a:srgbClr val="3E47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56509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Diógenes Dietrich de Morais  ·  José Francisco Dias Venturini  ·  Pedro Augusto Pereira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594360" y="6016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Fernando Luís Dotti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400" b="1" err="1">
                <a:solidFill>
                  <a:srgbClr val="1A1B3A"/>
                </a:solidFill>
                <a:latin typeface="Cambria"/>
                <a:ea typeface="Cambria"/>
                <a:cs typeface="Cambria" pitchFamily="34" charset="-120"/>
              </a:rPr>
              <a:t>problema</a:t>
            </a:r>
            <a:endParaRPr lang="en-US" sz="3400" b="1" err="1">
              <a:solidFill>
                <a:srgbClr val="1A1B3A"/>
              </a:solidFill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94360" y="1258895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Uma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transação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cross-chain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envolve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operações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em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duas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ou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mais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blockchains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independentes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. O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desafio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é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garantir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atomicidade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: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ou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todas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as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operações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são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concluídas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,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ou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nenhuma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 é </a:t>
            </a:r>
            <a:r>
              <a:rPr lang="en-US" sz="1500" dirty="0" err="1">
                <a:solidFill>
                  <a:srgbClr val="5A5F73"/>
                </a:solidFill>
                <a:ea typeface="+mn-lt"/>
                <a:cs typeface="+mn-lt"/>
              </a:rPr>
              <a:t>efetivada</a:t>
            </a:r>
            <a:r>
              <a:rPr lang="en-US" sz="1500" dirty="0">
                <a:solidFill>
                  <a:srgbClr val="5A5F73"/>
                </a:solidFill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3D7A96-AA3C-D5F6-B593-99000219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594" y="1993392"/>
            <a:ext cx="8210811" cy="4580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0EDE8-7CF5-81F5-A26E-4FDE516A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93E2BC-91A6-11D3-2740-6F7858539F13}"/>
              </a:ext>
            </a:extLst>
          </p:cNvPr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famílias de solução (1/2)</a:t>
            </a:r>
            <a:endParaRPr lang="en-US" sz="3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77930E-52E7-9EA7-604B-CBA6E31FE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62" y="2357106"/>
            <a:ext cx="8527737" cy="4113329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D233FDBE-2636-B169-E34F-0DF8D8DE6EF7}"/>
              </a:ext>
            </a:extLst>
          </p:cNvPr>
          <p:cNvSpPr txBox="1"/>
          <p:nvPr/>
        </p:nvSpPr>
        <p:spPr>
          <a:xfrm>
            <a:off x="879090" y="139217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2PC</a:t>
            </a:r>
            <a:endParaRPr 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244CA6-5D3F-BE0E-53C9-F899D1F1CF8E}"/>
              </a:ext>
            </a:extLst>
          </p:cNvPr>
          <p:cNvSpPr txBox="1"/>
          <p:nvPr/>
        </p:nvSpPr>
        <p:spPr>
          <a:xfrm>
            <a:off x="879089" y="1802817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o protocolo clássico ao cenário sem confiança</a:t>
            </a:r>
            <a:endParaRPr lang="en-US" sz="13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preparo e efetivação sobre as cadeias</a:t>
            </a:r>
            <a:endParaRPr lang="en-US" sz="13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substituído por entidade tolerante a falhas</a:t>
            </a:r>
            <a:endParaRPr lang="en-US" sz="13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o problema da tradição de bancos de dados</a:t>
            </a:r>
            <a:endParaRPr lang="en-US" sz="13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latência e dependência do coordenador</a:t>
            </a:r>
            <a:endParaRPr lang="en-US"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86BC72-6C72-DA6E-CF18-DB2E2110397F}"/>
              </a:ext>
            </a:extLst>
          </p:cNvPr>
          <p:cNvSpPr txBox="1"/>
          <p:nvPr/>
        </p:nvSpPr>
        <p:spPr>
          <a:xfrm>
            <a:off x="217024" y="6470837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Zakhary et al. (PVLDB, 2020) · Lu et al. (ACM DIN, 2024)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11843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famílias de solução (2/2)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91440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HTLC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89417" y="1919407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Substitui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coordenador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criptografia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e tempo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Hashlock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: o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ativo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só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 é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liberado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 para quem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revelar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 o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segredo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5A5F73"/>
                </a:solidFill>
                <a:ea typeface="+mn-lt"/>
                <a:cs typeface="+mn-lt"/>
              </a:rPr>
              <a:t>correto</a:t>
            </a:r>
            <a:r>
              <a:rPr lang="en-US" sz="1300" dirty="0">
                <a:solidFill>
                  <a:srgbClr val="5A5F73"/>
                </a:solidFill>
                <a:ea typeface="+mn-lt"/>
                <a:cs typeface="+mn-lt"/>
              </a:rPr>
              <a:t>.</a:t>
            </a:r>
            <a:endParaRPr lang="en-US" sz="1300" dirty="0">
              <a:ea typeface="Calibri"/>
              <a:cs typeface="Calibri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Timelock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: devolve o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ativo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se a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troca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completar</a:t>
            </a:r>
            <a:endParaRPr lang="en-US" sz="1300" dirty="0" err="1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Nenhum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participante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honesto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sai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prejuízo</a:t>
            </a:r>
            <a:endParaRPr lang="en-US" sz="1300" dirty="0" err="1"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Custo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: capital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travado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sensível</a:t>
            </a:r>
            <a:r>
              <a:rPr lang="en-US" sz="1300" dirty="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300" dirty="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temporização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56564" y="642919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Herlihy (2018) · Herlihy et al. (VLDB J., 2022)</a:t>
            </a:r>
            <a:endParaRPr lang="en-US" sz="10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4051A2-0BD9-04EF-0BB7-54328F9C3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154" y="1790491"/>
            <a:ext cx="7158379" cy="4451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experimento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— blockchains permissionadas, com canais que permitem instanciar múltiplas cadeias no mesmo ambiente.</a:t>
            </a:r>
            <a:endParaRPr lang="en-US" sz="145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3561"/>
          </a:solidFill>
          <a:ln w="15875">
            <a:solidFill>
              <a:srgbClr val="3E47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384048" cy="384048"/>
          </a:xfrm>
          <a:prstGeom prst="ellipse">
            <a:avLst/>
          </a:prstGeom>
          <a:solidFill>
            <a:srgbClr val="3E47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mbria"/>
                <a:ea typeface="+mn-lt"/>
                <a:cs typeface="+mn-lt"/>
              </a:rPr>
              <a:t>Configurar</a:t>
            </a:r>
            <a:endParaRPr lang="en-US" dirty="0" err="1"/>
          </a:p>
        </p:txBody>
      </p:sp>
      <p:sp>
        <p:nvSpPr>
          <p:cNvPr id="8" name="Text 6"/>
          <p:cNvSpPr txBox="1"/>
          <p:nvPr/>
        </p:nvSpPr>
        <p:spPr>
          <a:xfrm>
            <a:off x="868680" y="3243431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Dois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canais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/ledgers no Hyperledger Fabric</a:t>
            </a:r>
            <a:endParaRPr lang="en-US" dirty="0">
              <a:ea typeface="+mn-lt"/>
              <a:cs typeface="+mn-lt"/>
            </a:endParaRPr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rgbClr val="9BA0BC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0" y="2880360"/>
            <a:ext cx="274320" cy="27432"/>
          </a:xfrm>
          <a:prstGeom prst="rect">
            <a:avLst/>
          </a:prstGeom>
          <a:solidFill>
            <a:srgbClr val="3E4780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202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3561"/>
          </a:solidFill>
          <a:ln w="15875">
            <a:solidFill>
              <a:srgbClr val="3E47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194560"/>
            <a:ext cx="384048" cy="384048"/>
          </a:xfrm>
          <a:prstGeom prst="ellipse">
            <a:avLst/>
          </a:prstGeom>
          <a:solidFill>
            <a:srgbClr val="3E47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36576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Swap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atômico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com HTLC e com 2PC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97880" y="2880360"/>
            <a:ext cx="274320" cy="27432"/>
          </a:xfrm>
          <a:prstGeom prst="rect">
            <a:avLst/>
          </a:prstGeom>
          <a:solidFill>
            <a:srgbClr val="3E4780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9202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3561"/>
          </a:solidFill>
          <a:ln w="15875">
            <a:solidFill>
              <a:srgbClr val="3E47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94560"/>
            <a:ext cx="384048" cy="384048"/>
          </a:xfrm>
          <a:prstGeom prst="ellipse">
            <a:avLst/>
          </a:prstGeom>
          <a:solidFill>
            <a:srgbClr val="3E47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644652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Falhar</a:t>
            </a:r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446520" y="3243431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Executar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os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dois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protocolos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sob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falhas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controladas</a:t>
            </a:r>
            <a:endParaRPr lang="en-US" dirty="0" err="1">
              <a:ea typeface="+mn-lt"/>
              <a:cs typeface="+mn-lt"/>
            </a:endParaRPr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rgbClr val="9BA0BC"/>
              </a:solidFill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0" y="2880360"/>
            <a:ext cx="274320" cy="27432"/>
          </a:xfrm>
          <a:prstGeom prst="rect">
            <a:avLst/>
          </a:prstGeom>
          <a:solidFill>
            <a:srgbClr val="3E4780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0" y="19202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2D3561"/>
          </a:solidFill>
          <a:ln w="15875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1945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923544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600"/>
          </a:p>
        </p:txBody>
      </p:sp>
      <p:sp>
        <p:nvSpPr>
          <p:cNvPr id="26" name="Text 24"/>
          <p:cNvSpPr txBox="1"/>
          <p:nvPr/>
        </p:nvSpPr>
        <p:spPr>
          <a:xfrm>
            <a:off x="9235440" y="3422724"/>
            <a:ext cx="1966857" cy="326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Analisar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atomicidade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latência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bloqueio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e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comportamento</a:t>
            </a:r>
            <a:r>
              <a:rPr lang="en-US" sz="1200" dirty="0">
                <a:solidFill>
                  <a:srgbClr val="9BA0BC"/>
                </a:solidFill>
                <a:ea typeface="+mn-lt"/>
                <a:cs typeface="+mn-lt"/>
              </a:rPr>
              <a:t> sob </a:t>
            </a:r>
            <a:r>
              <a:rPr lang="en-US" sz="1200" dirty="0" err="1">
                <a:solidFill>
                  <a:srgbClr val="9BA0BC"/>
                </a:solidFill>
                <a:ea typeface="+mn-lt"/>
                <a:cs typeface="+mn-lt"/>
              </a:rPr>
              <a:t>falha</a:t>
            </a:r>
            <a:endParaRPr lang="en-US" dirty="0" err="1"/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rgbClr val="9BA0BC"/>
              </a:solidFill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434340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2D3561"/>
          </a:solidFill>
          <a:ln w="15875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526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demonstração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960120" y="4846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Implementar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duas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soluções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de swap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atômico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uma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baseada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em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HTLC 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outra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em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2PC,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submetê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-las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aos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mesmos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cenários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falha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comparar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seus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resultados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quanto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à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preservação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da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atomicidade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latência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, tempo de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bloqueio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dos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ativos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custo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execução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Justificativa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605566" y="1227716"/>
            <a:ext cx="384048" cy="384048"/>
          </a:xfrm>
          <a:prstGeom prst="ellipse">
            <a:avLst/>
          </a:prstGeom>
          <a:solidFill>
            <a:srgbClr val="1A1B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5566" y="1227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5" name="Text 3"/>
          <p:cNvSpPr txBox="1"/>
          <p:nvPr/>
        </p:nvSpPr>
        <p:spPr>
          <a:xfrm>
            <a:off x="1263934" y="11819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Valor </a:t>
            </a:r>
            <a:r>
              <a:rPr lang="en-US" sz="1700" b="1" err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preso</a:t>
            </a:r>
            <a:r>
              <a:rPr lang="en-US" sz="1700" b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em</a:t>
            </a:r>
            <a:r>
              <a:rPr lang="en-US" sz="1700" b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uma</a:t>
            </a:r>
            <a:r>
              <a:rPr lang="en-US" sz="1700" b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cadeia</a:t>
            </a:r>
            <a:r>
              <a:rPr lang="en-US" sz="1700" b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1A1B3A"/>
                </a:solidFill>
                <a:latin typeface="Cambria"/>
                <a:ea typeface="+mn-lt"/>
                <a:cs typeface="+mn-lt"/>
              </a:rPr>
              <a:t>só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63934" y="15294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Sem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interoperabilidade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cadeia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isola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seus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ativos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A troca depende de atomicidade cross-chain</a:t>
            </a:r>
            <a:r>
              <a:rPr lang="en-US" sz="1350">
                <a:solidFill>
                  <a:srgbClr val="5A5F7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5566" y="2294068"/>
            <a:ext cx="384048" cy="384048"/>
          </a:xfrm>
          <a:prstGeom prst="ellipse">
            <a:avLst/>
          </a:prstGeom>
          <a:solidFill>
            <a:srgbClr val="1A1B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5566" y="22940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263934" y="22483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multicadeia reais</a:t>
            </a:r>
            <a:endParaRPr lang="en-US" sz="1700"/>
          </a:p>
        </p:txBody>
      </p:sp>
      <p:sp>
        <p:nvSpPr>
          <p:cNvPr id="10" name="Text 8"/>
          <p:cNvSpPr txBox="1"/>
          <p:nvPr/>
        </p:nvSpPr>
        <p:spPr>
          <a:xfrm>
            <a:off x="1263934" y="25958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Encadeamentos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como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real →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crédito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de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energia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→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ativo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físico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exigem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uma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única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transação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atômica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cross-chain.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5566" y="3349214"/>
            <a:ext cx="384048" cy="384048"/>
          </a:xfrm>
          <a:prstGeom prst="ellipse">
            <a:avLst/>
          </a:prstGeom>
          <a:solidFill>
            <a:srgbClr val="1A1B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5566" y="33492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1263934" y="330349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crash ao bizantino</a:t>
            </a:r>
            <a:endParaRPr lang="en-US" sz="1700"/>
          </a:p>
        </p:txBody>
      </p:sp>
      <p:sp>
        <p:nvSpPr>
          <p:cNvPr id="15" name="Shape 13"/>
          <p:cNvSpPr/>
          <p:nvPr/>
        </p:nvSpPr>
        <p:spPr>
          <a:xfrm>
            <a:off x="594360" y="4561242"/>
            <a:ext cx="384048" cy="384048"/>
          </a:xfrm>
          <a:prstGeom prst="ellipse">
            <a:avLst/>
          </a:prstGeom>
          <a:solidFill>
            <a:srgbClr val="1A1B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5612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1252728" y="451552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ativa de pesquisa</a:t>
            </a:r>
            <a:endParaRPr lang="en-US" sz="1700"/>
          </a:p>
        </p:txBody>
      </p:sp>
      <p:sp>
        <p:nvSpPr>
          <p:cNvPr id="18" name="Text 16"/>
          <p:cNvSpPr txBox="1"/>
          <p:nvPr/>
        </p:nvSpPr>
        <p:spPr>
          <a:xfrm>
            <a:off x="1252728" y="486299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Publicações recentes em VLDB, PODC e ACM DIN indicam problema em aberto, com abordagens concorrentes.</a:t>
            </a:r>
            <a:endParaRPr lang="en-US" sz="1350">
              <a:ea typeface="+mn-lt"/>
              <a:cs typeface="+mn-lt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15FBF5F-C778-36CB-AA04-E1B668179260}"/>
              </a:ext>
            </a:extLst>
          </p:cNvPr>
          <p:cNvSpPr txBox="1"/>
          <p:nvPr/>
        </p:nvSpPr>
        <p:spPr>
          <a:xfrm>
            <a:off x="1263933" y="3736159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endParaRPr lang="en-US" sz="1350">
              <a:solidFill>
                <a:srgbClr val="5A5F73"/>
              </a:solidFill>
              <a:ea typeface="+mn-lt"/>
              <a:cs typeface="+mn-lt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89B93C5C-315A-96F7-7CD1-50C91ED81285}"/>
              </a:ext>
            </a:extLst>
          </p:cNvPr>
          <p:cNvSpPr txBox="1"/>
          <p:nvPr/>
        </p:nvSpPr>
        <p:spPr>
          <a:xfrm>
            <a:off x="1263934" y="37361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O 2PC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clássico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pressupõe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um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coordenador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confiável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e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falhas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por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crash. Entre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domínios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sem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confiança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mútua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,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entra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o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comportamento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bizantino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. O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tema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exercita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os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dois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modelos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 de </a:t>
            </a:r>
            <a:r>
              <a:rPr lang="en-US" sz="1350" err="1">
                <a:solidFill>
                  <a:srgbClr val="5A5F73"/>
                </a:solidFill>
                <a:ea typeface="+mn-lt"/>
                <a:cs typeface="+mn-lt"/>
              </a:rPr>
              <a:t>falha</a:t>
            </a:r>
            <a:r>
              <a:rPr lang="en-US" sz="1350">
                <a:solidFill>
                  <a:srgbClr val="5A5F73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5202766E-6A62-6654-63E9-D309CF02525C}"/>
              </a:ext>
            </a:extLst>
          </p:cNvPr>
          <p:cNvSpPr/>
          <p:nvPr/>
        </p:nvSpPr>
        <p:spPr>
          <a:xfrm>
            <a:off x="583154" y="5681830"/>
            <a:ext cx="384048" cy="384048"/>
          </a:xfrm>
          <a:prstGeom prst="ellipse">
            <a:avLst/>
          </a:prstGeom>
          <a:solidFill>
            <a:srgbClr val="1A1B3A"/>
          </a:solidFill>
          <a:ln/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DB8849B-690A-C609-2DD5-1F6CA8F8EF9F}"/>
              </a:ext>
            </a:extLst>
          </p:cNvPr>
          <p:cNvSpPr txBox="1"/>
          <p:nvPr/>
        </p:nvSpPr>
        <p:spPr>
          <a:xfrm>
            <a:off x="583154" y="5681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/>
                <a:cs typeface="Calibri"/>
              </a:rPr>
              <a:t>5</a:t>
            </a: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35B98DD-2F72-21F2-3B23-2182008EE9B6}"/>
              </a:ext>
            </a:extLst>
          </p:cNvPr>
          <p:cNvSpPr txBox="1"/>
          <p:nvPr/>
        </p:nvSpPr>
        <p:spPr>
          <a:xfrm>
            <a:off x="1241522" y="563611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1A1B3A"/>
                </a:solidFill>
                <a:latin typeface="Cambria"/>
                <a:ea typeface="Cambria"/>
                <a:cs typeface="+mn-lt"/>
              </a:rPr>
              <a:t>Abordagens</a:t>
            </a:r>
            <a:r>
              <a:rPr lang="en-US" sz="1700" b="1" dirty="0">
                <a:solidFill>
                  <a:srgbClr val="1A1B3A"/>
                </a:solidFill>
                <a:latin typeface="Cambria"/>
                <a:ea typeface="Cambria"/>
                <a:cs typeface="+mn-lt"/>
              </a:rPr>
              <a:t> com trade-offs </a:t>
            </a:r>
            <a:r>
              <a:rPr lang="en-US" sz="1700" b="1" dirty="0" err="1">
                <a:solidFill>
                  <a:srgbClr val="1A1B3A"/>
                </a:solidFill>
                <a:latin typeface="Cambria"/>
                <a:ea typeface="Cambria"/>
                <a:cs typeface="+mn-lt"/>
              </a:rPr>
              <a:t>distintos</a:t>
            </a:r>
            <a:endParaRPr lang="en-US" dirty="0" err="1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96B07E8-DD43-E169-1B24-62BC9A035569}"/>
              </a:ext>
            </a:extLst>
          </p:cNvPr>
          <p:cNvSpPr txBox="1"/>
          <p:nvPr/>
        </p:nvSpPr>
        <p:spPr>
          <a:xfrm>
            <a:off x="1241522" y="598358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HTLC e 2PC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usam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estratégias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diferentes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para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alcançar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atomicidade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.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Compará-los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permite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analisar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garantias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limitações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dependência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de tempo,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bloqueio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de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recursos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e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comportamento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 sob </a:t>
            </a:r>
            <a:r>
              <a:rPr lang="en-US" sz="1350" dirty="0" err="1">
                <a:solidFill>
                  <a:srgbClr val="5A5F73"/>
                </a:solidFill>
                <a:ea typeface="+mn-lt"/>
                <a:cs typeface="+mn-lt"/>
              </a:rPr>
              <a:t>falhas</a:t>
            </a:r>
            <a:r>
              <a:rPr lang="en-US" sz="1350" dirty="0">
                <a:solidFill>
                  <a:srgbClr val="5A5F73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Esboço do plano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de trabalho, ancoradas no cronograma da disciplina</a:t>
            </a:r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1</a:t>
            </a:r>
            <a:endParaRPr lang="en-US" sz="1050"/>
          </a:p>
        </p:txBody>
      </p:sp>
      <p:sp>
        <p:nvSpPr>
          <p:cNvPr id="6" name="Text 4"/>
          <p:cNvSpPr txBox="1"/>
          <p:nvPr/>
        </p:nvSpPr>
        <p:spPr>
          <a:xfrm>
            <a:off x="868680" y="2048256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868680" y="2432304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demo oficial do Hyperledger Fabric e dominar o ciclo de vida do chaincode: registro, assinatura, instanciação e invocação.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352544" y="1572768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2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6864" y="178308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2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4626864" y="2048256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</a:t>
            </a:r>
            <a:endParaRPr lang="en-US" sz="1700"/>
          </a:p>
        </p:txBody>
      </p:sp>
      <p:sp>
        <p:nvSpPr>
          <p:cNvPr id="11" name="Text 9"/>
          <p:cNvSpPr txBox="1"/>
          <p:nvPr/>
        </p:nvSpPr>
        <p:spPr>
          <a:xfrm>
            <a:off x="4626864" y="2432304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HTLC e 2PC, sistematizando características, restrições e desafios sob cada modelo de falha.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8110728" y="1572768"/>
            <a:ext cx="3483864" cy="1691640"/>
          </a:xfrm>
          <a:prstGeom prst="roundRect">
            <a:avLst>
              <a:gd name="adj" fmla="val 5405"/>
            </a:avLst>
          </a:prstGeom>
          <a:solidFill>
            <a:srgbClr val="F2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5048" y="178308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3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8385048" y="2048256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Implementações</a:t>
            </a:r>
            <a:endParaRPr lang="en-US" sz="1700"/>
          </a:p>
        </p:txBody>
      </p:sp>
      <p:sp>
        <p:nvSpPr>
          <p:cNvPr id="15" name="Text 13"/>
          <p:cNvSpPr txBox="1"/>
          <p:nvPr/>
        </p:nvSpPr>
        <p:spPr>
          <a:xfrm>
            <a:off x="8385048" y="2432304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contratos publicados pelos autores da área e avaliar o que é reaproveitável no experimento.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59436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94360" y="388620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2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40690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04.09 – 11.09</a:t>
            </a:r>
            <a:endParaRPr lang="en-US" sz="1050"/>
          </a:p>
        </p:txBody>
      </p:sp>
      <p:sp>
        <p:nvSpPr>
          <p:cNvPr id="19" name="Text 17"/>
          <p:cNvSpPr txBox="1"/>
          <p:nvPr/>
        </p:nvSpPr>
        <p:spPr>
          <a:xfrm>
            <a:off x="795528" y="43342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500"/>
          </a:p>
        </p:txBody>
      </p:sp>
      <p:sp>
        <p:nvSpPr>
          <p:cNvPr id="20" name="Text 18"/>
          <p:cNvSpPr txBox="1"/>
          <p:nvPr/>
        </p:nvSpPr>
        <p:spPr>
          <a:xfrm>
            <a:off x="795528" y="46817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no ar e ciclo de vida do contrato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2816352" y="388620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1A1B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17520" y="40690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18.09 – 02.10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3017520" y="43342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Seminário</a:t>
            </a:r>
            <a:endParaRPr lang="en-US" sz="1500"/>
          </a:p>
        </p:txBody>
      </p:sp>
      <p:sp>
        <p:nvSpPr>
          <p:cNvPr id="24" name="Text 22"/>
          <p:cNvSpPr txBox="1"/>
          <p:nvPr/>
        </p:nvSpPr>
        <p:spPr>
          <a:xfrm>
            <a:off x="3017520" y="46817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HTLC vs. 2PC: modelos de falha e garantias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038344" y="388620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2F3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39512" y="40690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09.10 – 23.10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5239512" y="43342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500"/>
          </a:p>
        </p:txBody>
      </p:sp>
      <p:sp>
        <p:nvSpPr>
          <p:cNvPr id="28" name="Text 26"/>
          <p:cNvSpPr txBox="1"/>
          <p:nvPr/>
        </p:nvSpPr>
        <p:spPr>
          <a:xfrm>
            <a:off x="5239512" y="46817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atômico em chaincode sobre dois canais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7260336" y="388620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1A1B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61504" y="40690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30.10 – 13.11</a:t>
            </a:r>
            <a:endParaRPr lang="en-US" sz="1050"/>
          </a:p>
        </p:txBody>
      </p:sp>
      <p:sp>
        <p:nvSpPr>
          <p:cNvPr id="31" name="Text 29"/>
          <p:cNvSpPr txBox="1"/>
          <p:nvPr/>
        </p:nvSpPr>
        <p:spPr>
          <a:xfrm>
            <a:off x="7461504" y="43342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7461504" y="46817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C6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Execução, injeção de falha e resultados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9482328" y="388620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2F3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83496" y="40690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27.11</a:t>
            </a:r>
            <a:endParaRPr lang="en-US" sz="1050"/>
          </a:p>
        </p:txBody>
      </p:sp>
      <p:sp>
        <p:nvSpPr>
          <p:cNvPr id="35" name="Text 33"/>
          <p:cNvSpPr txBox="1"/>
          <p:nvPr/>
        </p:nvSpPr>
        <p:spPr>
          <a:xfrm>
            <a:off x="9683496" y="43342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</a:t>
            </a:r>
            <a:endParaRPr lang="en-US" sz="1500"/>
          </a:p>
        </p:txBody>
      </p:sp>
      <p:sp>
        <p:nvSpPr>
          <p:cNvPr id="36" name="Text 34"/>
          <p:cNvSpPr txBox="1"/>
          <p:nvPr/>
        </p:nvSpPr>
        <p:spPr>
          <a:xfrm>
            <a:off x="9683496" y="46817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e reserva</a:t>
            </a:r>
            <a:endParaRPr lang="en-US" sz="1050"/>
          </a:p>
        </p:txBody>
      </p:sp>
      <p:sp>
        <p:nvSpPr>
          <p:cNvPr id="37" name="Text 35"/>
          <p:cNvSpPr txBox="1"/>
          <p:nvPr/>
        </p:nvSpPr>
        <p:spPr>
          <a:xfrm>
            <a:off x="59436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entrega da disciplina em destaque: seminário e experimento.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A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HTLC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2057400" y="121615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HERLIHY, M. Atomic Cross-Chain Swaps. In: ACM PODC, 2018. arXiv:1801.09515.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0A5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075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HTLC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2057400" y="20574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HERLIHY, M.; LISKOV, B.; SHRIRA, L. Cross-chain deals and adversarial commerce. The VLDB Journal, v. 31, n. 6, p. 1291–1309, 2022.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94360" y="291693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1B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9169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2057400" y="289864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ZAKHARY, V.; AGRAWAL, D.; EL ABBADI, A. Atomic Commitment Across Blockchains. Proc. VLDB Endowment, v. 13, n. 9, p. 1319–1331, 2020.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94360" y="375818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1B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758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</a:t>
            </a:r>
            <a:endParaRPr lang="en-US" sz="1100"/>
          </a:p>
        </p:txBody>
      </p:sp>
      <p:sp>
        <p:nvSpPr>
          <p:cNvPr id="14" name="Text 12"/>
          <p:cNvSpPr txBox="1"/>
          <p:nvPr/>
        </p:nvSpPr>
        <p:spPr>
          <a:xfrm>
            <a:off x="2057400" y="373989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LU, H.; JAJOO, A.; NAMJOSHI, K. S. A Two-Phase Protocol for Atomic Multi-Chain Transactions. In: Workshop on Decentralization of the Internet (DIN), ACM, 2024, p. 21–27.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94360" y="459943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2D5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599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2057400" y="458114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FABRIC. Documentação oficial, v2.5. Linux Foundation.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de implementação: Hyperledger Cacti / Weaver e fabric-token-sdk.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Transacoes atomicas entre multiplas blockchains</dc:title>
  <dc:subject>PptxGenJS Presentation</dc:subject>
  <dc:creator>Diogenes Dietrich de Morais</dc:creator>
  <cp:revision>54</cp:revision>
  <dcterms:created xsi:type="dcterms:W3CDTF">2026-08-26T19:55:15Z</dcterms:created>
  <dcterms:modified xsi:type="dcterms:W3CDTF">2026-08-27T11:55:42Z</dcterms:modified>
</cp:coreProperties>
</file>